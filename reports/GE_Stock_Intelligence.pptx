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91672" cy="4663440"/>
          </a:xfrm>
          <a:prstGeom prst="rect">
            <a:avLst/>
          </a:prstGeom>
          <a:solidFill>
            <a:srgbClr val="003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2D62"/>
                </a:solidFill>
              </a:rPr>
              <a:t>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80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GE Stock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86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B5E2"/>
                </a:solidFill>
              </a:rPr>
              <a:t>GE Aerospace 주가 예측 자동 리포트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CFF"/>
                </a:solidFill>
              </a:rPr>
              <a:t>Mission 1. 데이터 수집 &amp; 전처리   |   Mission 2. TensorFlow 회귀 모델   |   Mission 3. n8n 자동화 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23360"/>
            <a:ext cx="10515600" cy="457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CC"/>
                </a:solidFill>
              </a:rPr>
              <a:t>Python  ·  TensorFlow / Keras  ·  FastAPI  ·  Streamlit  ·  n8n  ·  Discord Webhook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88AACC"/>
                </a:solidFill>
              </a:rPr>
              <a:t>2026. 04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62"/>
                </a:solidFill>
              </a:rPr>
              <a:t>01  프로젝트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93392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2D62"/>
                </a:solidFill>
              </a:rPr>
              <a:t>02  문제 정의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52344"/>
            <a:ext cx="53035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98063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62"/>
                </a:solidFill>
              </a:rPr>
              <a:t>03  전체 아키텍처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11296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57015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2D62"/>
                </a:solidFill>
              </a:rPr>
              <a:t>04  데이터 수집 (Mission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70248"/>
            <a:ext cx="53035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159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62"/>
                </a:solidFill>
              </a:rPr>
              <a:t>05  전처리 &amp; 피처 엔지니어링 (Mission 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7491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2D62"/>
                </a:solidFill>
              </a:rPr>
              <a:t>06  알고리즘 선택 및 이론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53035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62"/>
                </a:solidFill>
              </a:rPr>
              <a:t>07  TensorFlow 모델 구조 (Mission 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993392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0391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2D62"/>
                </a:solidFill>
              </a:rPr>
              <a:t>08  모델 평가 결과 (Mission 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752344"/>
            <a:ext cx="53035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98063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62"/>
                </a:solidFill>
              </a:rPr>
              <a:t>09  FastAPI + n8n 자동화 (Mission 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511296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57015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2D62"/>
                </a:solidFill>
              </a:rPr>
              <a:t>10  Discord 알림 예시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70248"/>
            <a:ext cx="530352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159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62"/>
                </a:solidFill>
              </a:rPr>
              <a:t>11  Streamlit 대시보드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02920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1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2D62"/>
                </a:solidFill>
              </a:rPr>
              <a:t>12  기술 스택 / 한계점 &amp; 개선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 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120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474720" cy="5029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16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🎯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44"/>
                </a:solidFill>
              </a:rPr>
              <a:t>GE Aerospace(GE) 다음
거래일 종가 예측 후
매일 아침 Discord 자동 발송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474720" cy="5120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3474720" cy="5029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216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🤖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44"/>
                </a:solidFill>
              </a:rPr>
              <a:t>TensorFlow / Keras
· Dense Regression
· LSTM Regression
(두 모델 동시 학습)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474720" cy="5120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474720" cy="5029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16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⚙️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44"/>
                </a:solidFill>
              </a:rPr>
              <a:t>FastAPI 예측 서버
+ n8n 스케줄러
→ Discord Webhook 전송
(평일 매일 오전 7시 KST)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02 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예측 대상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다음 거래일 수익률 → 예상 종가 환산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입력 피처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과거 OHLCV + 기술적 지표  28개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출력 형태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연속값 수익률 (회귀, Regression)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모델 유형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지도학습 · 회귀 (TensorFlow Keras)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학습 데이터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2014-01-01 ~ 현재  (약 2,428행 학습 세트)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평가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MAE · RMSE · 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44"/>
                </a:solidFill>
              </a:rPr>
              <a:t>※ 주가 예측은 상승/하락 분류(Classification)가 아닌 연속값 회귀(Regression)로 접근합니다.
   예측 수익률 × 현재 종가 = 다음 거래일 예상 종가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03  전체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920240" cy="9144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D62"/>
                </a:solidFill>
              </a:rPr>
              <a:t>Yahoo Finance
(yfinance)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727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BB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280160"/>
            <a:ext cx="1920240" cy="9144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4327" y="1325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collect_data.py
원시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5727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BB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1456" y="1280160"/>
            <a:ext cx="1920240" cy="9144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325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preprocess.py
28개 피처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15727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BB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4304" y="1280160"/>
            <a:ext cx="1920240" cy="9144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0024" y="1325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train_model.py
Dense+LSTM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15727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BB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17152" y="1280160"/>
            <a:ext cx="1920240" cy="9144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25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predict.py
예측 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468880"/>
            <a:ext cx="18288" cy="9144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246120"/>
            <a:ext cx="11430000" cy="18288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383280"/>
            <a:ext cx="2560320" cy="9601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29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FastAPI
(포트 8000)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383280"/>
            <a:ext cx="2560320" cy="9601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429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Streamlit
대시보드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383280"/>
            <a:ext cx="256032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59" y="3429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n8n
스케줄러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3383280"/>
            <a:ext cx="2560320" cy="9601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3429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Discord
Webhook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44"/>
                </a:solidFill>
              </a:rPr>
              <a:t>평일 매일 오전 7시 KST — 예측 리포트 &amp; 테마주 비교 리포트 자동 발송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12080"/>
            <a:ext cx="1143000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852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2D62"/>
                </a:solidFill>
              </a:rPr>
              <a:t>테마주 비교: GE · GEV · GEHC · RTX · HON · BA  →  compare.py  →  /compare API  →  Discord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04  데이터 수집  (Mission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D62"/>
                </a:solidFill>
              </a:rPr>
              <a:t>수집 정보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데이터 출처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Yahoo Finance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라이브러리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yfinance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티커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GE (GE Aerospace)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2014-01-01 ~ 현재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인터벌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일봉 (1d)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행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약 3,096행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주요 컬럼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Open / High / Low / Close / Volume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D62"/>
                </a:solidFill>
              </a:rPr>
              <a:t>핵심 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532120" cy="4389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E3A1"/>
                </a:solidFill>
              </a:rPr>
              <a:t>import yfinance as yf
import pandas as pd
ticker = yf.Ticker('GE')
df = ticker.history(
    start='2014-01-01',
    auto_adjust=True
)
# 결과
# Date / Open / High / Low
# Close / Volume
# 약 3,096행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05  전처리 &amp; 피처 엔지니어링  (Mission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카테고리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피처 목록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수익률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daily_return, target_return_next_day_scaled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일간 수익률 &amp; 정규화 타깃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이동평균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ma_5, ma_10, ma_20, ma_60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단기~장기 추세 파악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갭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ma_20_gap, ma_60_gap, open_gap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현재가 vs 평균 괴리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변동성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volatility_5, volatility_20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단기/중기 가격 변동폭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거래량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volume_change, volume_ma_20_ratio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거래량 급등/급락 감지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RSI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rsi_14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과매수/과매도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MACD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macd, macd_signal, macd_hist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모멘텀 &amp; 추세 전환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볼린저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bb_width, bb_position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변동성 구간 위치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486400"/>
            <a:ext cx="521208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D62"/>
                </a:solidFill>
              </a:rPr>
              <a:t>정규화: MinMaxScaler (피처 0~1  /  타깃: 수익률 범위)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43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44"/>
                </a:solidFill>
              </a:rPr>
              <a:t>학습 / 테스트 분리: 80% (약 2,428행)  /  20% (약 608행)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5486400"/>
            <a:ext cx="539496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5532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D62"/>
                </a:solidFill>
              </a:rPr>
              <a:t>총 피처 수: 28개   |   타깃: 다음 거래일 수익률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943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44"/>
                </a:solidFill>
              </a:rPr>
              <a:t>결측값 처리: dropna  |  이상값: inf → NaN 치환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06  알고리즘 선택 및 이론 설명  (Mission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40680" cy="5486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40680" cy="5029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① Dense Neural Network (MLP)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D62"/>
                </a:solidFill>
              </a:rPr>
              <a:t>개념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1"/>
            <a:ext cx="5257800" cy="457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44"/>
                </a:solidFill>
              </a:rPr>
              <a:t>모든 뉴런이 다음 층의 모든 뉴런과 연결(완전 연결층)되는 가장 기본적인 인공 신경망 구조입니다. 각 뉴런은 입력값에 가중치(weight)를 곱하고 활성화 함수를 거쳐 비선형 패턴을 학습합니다.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D62"/>
                </a:solidFill>
              </a:rPr>
              <a:t>선택 이유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47872"/>
            <a:ext cx="5257800" cy="457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28개 기술 지표를 동시에 입력 → 복잡한 비선형 관계 학습 가능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구조가 단순해 학습 속도가 빠르고 해석이 용이함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회귀(Regression) 문제에 검증된 범용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29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D62"/>
                </a:solidFill>
              </a:rPr>
              <a:t>학습 과정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76672"/>
            <a:ext cx="5257800" cy="457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44"/>
                </a:solidFill>
              </a:rPr>
              <a:t>입력(28개) → 순전파(Forward Pass) → MSE 손실 계산
→ 역전파(Backpropagation) → Adam 옵티마이저로 가중치 갱신
→ 30 Epoch 반복 (EarlyStopping 적용)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143000"/>
            <a:ext cx="5486400" cy="5486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14300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1704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② LSTM  (Long Short-Term Memory)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5500"/>
                </a:solidFill>
              </a:rPr>
              <a:t>개념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84831"/>
            <a:ext cx="5303520" cy="45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488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44"/>
                </a:solidFill>
              </a:rPr>
              <a:t>RNN(순환 신경망)의 장기 의존성 문제를 해결한 시계열 특화 알고리즘입니다. 셀 상태(Cell State)와 세 개의 게이트(입력·망각·출력)로 과거 정보를 선택적으로 기억하거나 잊어버려 긴 시계열 패턴을 학습합니다.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5500"/>
                </a:solidFill>
              </a:rPr>
              <a:t>선택 이유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47872"/>
            <a:ext cx="5303520" cy="45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6118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주가는 시계열 데이터 → 과거 30일 흐름이 내일 가격에 영향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망각 게이트로 불필요한 과거 정보 자동 제거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장기 추세(강세장/약세장) + 단기 변동을 동시에 학습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5500"/>
                </a:solidFill>
              </a:rPr>
              <a:t>학습 과정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376672"/>
            <a:ext cx="5303520" cy="45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440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44"/>
                </a:solidFill>
              </a:rPr>
              <a:t>입력(30일 × 28피처 시퀀스) → LSTM(64) → LSTM(32)
→ Dense(16) → 출력(수익률) → MSE 손실 → 역전파
→ Adam 옵티마이저 → 30 Epoch (EarlyStopping 적용)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06-2  두 알고리즘 비교 &amp; 주가 예측에 적합한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비교 항목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Dense (MLP)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입력 형태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당일 피처 28개 (스냅샷)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과거 30일 × 28개 (시퀀스)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시간 정보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고려 안 함 (순서 무관)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시간 순서 반영 (게이트 메모리)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파라미터 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상대적으로 적음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많음 (4개 게이트 × 레이어)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학습 속도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빠름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상대적으로 느림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장점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구조 단순, 범용성 높음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장기 패턴 학습, 시계열에 강함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단점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시계열 순서 무시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학습 데이터 많이 필요, 과적합 위험</a:t>
                      </a:r>
                    </a:p>
                  </a:txBody>
                  <a:tcPr>
                    <a:solidFill>
                      <a:srgbClr val="F5EC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실험 결과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MAE $6.45 / RMSE $9.59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MAE $3.13 / RMSE $4.58  ✅ 우수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846320"/>
            <a:ext cx="10972800" cy="1737360"/>
          </a:xfrm>
          <a:prstGeom prst="rect">
            <a:avLst/>
          </a:prstGeom>
          <a:solidFill>
            <a:srgbClr val="F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109728" cy="17373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0DAD"/>
                </a:solidFill>
              </a:rPr>
              <a:t>결론 및 선택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21808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44"/>
                </a:solidFill>
              </a:rPr>
              <a:t>주가는 연속적인 시계열 데이터이므로 '과거 흐름'이 미래 가격에 영향을 줍니다. Dense 모델은 당일 스냅샷만 사용해 시간 순서를 무시하지만, LSTM은 30거래일의 시계열 패턴을 게이트(망각·입력·출력)로 선별적으로 기억해 더 정확한 예측이 가능합니다. 실험 결과에서도 LSTM이 MAE 기준 약 52% 낮은 오차를 기록했습니다.
→ 두 모델을 모두 학습시켜 비교함으로써 시계열 정보의 유효성을 직접 검증했습니다.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07  TensorFlow 모델 구조  (Mission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D62"/>
                </a:solidFill>
              </a:rPr>
              <a:t>① Dense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4572000" cy="64008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73936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D62"/>
                </a:solidFill>
              </a:rPr>
              <a:t>Input  (28개 피처)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591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5BB5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2032"/>
            <a:ext cx="4572000" cy="64008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Dense(128, ReLU)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638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5BB5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46704"/>
            <a:ext cx="4572000" cy="64008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383280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Dense(64, ReLU)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684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5BB5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51376"/>
            <a:ext cx="4572000" cy="64008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187952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Dense(32, ReLU)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7316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5BB5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956048"/>
            <a:ext cx="457200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992624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Output (1개 — 수익률)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D62"/>
                </a:solidFill>
              </a:rPr>
              <a:t>② LSTM Regression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737360"/>
            <a:ext cx="4754880" cy="64008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1773936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D62"/>
                </a:solidFill>
              </a:rPr>
              <a:t>Input  (30일 × 28 피처)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3591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542032"/>
            <a:ext cx="4754880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2578608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LSTM(64, return_seq=True)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16382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46704"/>
            <a:ext cx="4754880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3383280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LSTM(32)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9684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151376"/>
            <a:ext cx="4754880" cy="64008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4187952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Dense(16, ReLU)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77316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6B35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4956048"/>
            <a:ext cx="475488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4992624"/>
            <a:ext cx="4663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Output (1개 — 수익률)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44"/>
                </a:solidFill>
              </a:rPr>
              <a:t>공통: Optimizer=Adam (lr=0.001) · Loss=MSE · EarlyStopping(patience=12) · ReduceLROnPlateau  |  Epochs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08  모델 평가 결과  (Mission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MAE ($)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RMSE ($)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MAPE (%)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Baseline  (오늘 종가 = 내일 종가)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3.02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4.44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1.40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Dense Regression  (TF Keras)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6.45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9.59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2.59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LSTM Regression  (TF Keras)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3.13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4.58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44"/>
                          </a:solidFill>
                        </a:rPr>
                        <a:t>1.44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474720"/>
            <a:ext cx="3566160" cy="2651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356616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📌 Baseline이 강한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44"/>
                </a:solidFill>
              </a:rPr>
              <a:t>주가는 '오늘 ≈ 내일' 자기상관이 매우 강합니다.
단기적으로 Baseline을 이기는 것이 어렵습니다.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474720"/>
            <a:ext cx="3566160" cy="2651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3474720"/>
            <a:ext cx="356616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35021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📌 LSTM &gt; Dense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023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44"/>
                </a:solidFill>
              </a:rPr>
              <a:t>LSTM은 30일치 시계열 순서 정보를 학습합니다.
시간 순서 패턴이 유효함을 시사합니다.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474720"/>
            <a:ext cx="3566160" cy="2651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474720"/>
            <a:ext cx="356616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5021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📌 개선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023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44"/>
                </a:solidFill>
              </a:rPr>
              <a:t>외부 데이터(뉴스·VIX·금리) 추가 시
예측 정확도 향상 가능성이 높습니다.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09  FastAPI + n8n 서비스 자동화  (Mission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62"/>
                </a:solidFill>
              </a:rPr>
              <a:t>FastAPI 예측 서버  (포트 8000)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5440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엔드포인트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메서드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설명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/predict?model=dense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Dense 모델 종가 예측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/predict?model=lstm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LSTM 모델 종가 예측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/compare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테마주 6종 비교 리포트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44"/>
                          </a:solidFill>
                        </a:rPr>
                        <a:t>서버 &amp; 모델 상태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572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44"/>
                </a:solidFill>
              </a:rPr>
              <a:t>▶ uvicorn src.api:app --reload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44"/>
                </a:solidFill>
              </a:rPr>
              <a:t>▶ n8n에서 HTTP Request 노드로 호출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44"/>
                </a:solidFill>
              </a:rPr>
              <a:t>▶ 실행 결과 JSON → Discord 메시지 포맷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62"/>
                </a:solidFill>
              </a:rPr>
              <a:t>n8n 자동화 워크플로우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37360"/>
            <a:ext cx="4937760" cy="658368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73936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⏰  평일 오전 7시 KST 트리거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774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44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606039"/>
            <a:ext cx="4937760" cy="658368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42615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🌐  /predict 호출 (HTTP Request)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2461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44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474720"/>
            <a:ext cx="4937760" cy="658368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511296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💬  Discord 예측 메시지 전송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1148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44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343400"/>
            <a:ext cx="4937760" cy="658368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379975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🌐  /compare 호출 (HTTP Request)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98347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44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5212079"/>
            <a:ext cx="4937760" cy="658368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248656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💬  Discord 비교 리포트 전송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10  Discord 알림 예시  (Mission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303520"/>
          </a:xfrm>
          <a:prstGeom prst="rect">
            <a:avLst/>
          </a:prstGeom>
          <a:solidFill>
            <a:srgbClr val="36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28600" cy="53035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① 예측 리포트 메시지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📊 GE Daily Prediction
─────────────────────
기준일: 2026-04-24
현재 종가: $284.60
예측 종가: $296.88  ▲
예상 수익률: +4.31% 📈
─────────────────────
RSI(14): 47.97
변동성(20일): 3.20%
MACD: -4.60
모델: TensorFlow LSTM
─────────────────────
⚠️ 본 결과는 교육용 예측입니다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577840" cy="5303520"/>
          </a:xfrm>
          <a:prstGeom prst="rect">
            <a:avLst/>
          </a:prstGeom>
          <a:solidFill>
            <a:srgbClr val="36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228600" cy="53035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② 테마주 비교 리포트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📊 GE 테마주 비교 리포트
기준: 2026-04-24
─────────────────────
GE    $284.60   ▼-0.22%  ▲+44.93%
GEV  $1,149.19 ▲+31.62% ▲+219.49%
GEHC   $68.83  ▼-3.74%   ▲+2.85%
RTX    $174.26  ▼-9.64%  ▲+45.28%
HON    $213.17  ▼-5.33%  ▲+15.09%
BA     $232.44  ▲+19.59% ▲+31.87%
─────────────────────
상관계수(GE 기준)
GEV: 0.82  GEHC: 0.71
RTX: 0.68  HON: 0.59  BA: 0.63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11  Streamlit 대시보드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📈 가격 추세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56032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44"/>
                </a:solidFill>
              </a:rPr>
              <a:t>GE 최근 2년 종가
Interactive 차트
(Plotly 기반)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56032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🔮 예측 히스토리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91640"/>
            <a:ext cx="256032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44"/>
                </a:solidFill>
              </a:rPr>
              <a:t>누적 예측 기록
테이블 &amp; 차트
(실제 vs 예측 비교)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256032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🔀 테마주 비교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91640"/>
            <a:ext cx="256032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44"/>
                </a:solidFill>
              </a:rPr>
              <a:t>6종목 정규화 차트
수익률표
상관관계 히트맵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188720"/>
            <a:ext cx="256032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🏗️ 서비스 구조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691640"/>
            <a:ext cx="2560320" cy="3931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82880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44"/>
                </a:solidFill>
              </a:rPr>
              <a:t>n8n 자동화 흐름
아키텍처 다이어그램
설명 텍스트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2D62"/>
                </a:solidFill>
              </a:rPr>
              <a:t>실행 방법: streamlit run app.py   →   http://localhost:8501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12  기술 스택  &amp;  한계점 / 개선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669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분류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기술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언어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Python 3.12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전체 프로젝트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yfinance · pandas ·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주가 수집 &amp;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ML 프레임워크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TensorFlow 2.21 / Keras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Dense &amp; LSTM 학습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스케일링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scikit-learn MinMaxScaler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피처·타깃 정규화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API 서버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FastAPI + uvicorn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예측 &amp; 비교 API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대시보드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Streamlit + Plotly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인터랙티브 시각화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자동화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n8n (HTTP Request)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스케줄 &amp; 워크플로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Discord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44"/>
                          </a:solidFill>
                        </a:rPr>
                        <a:t>일일 리포트 발송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188720"/>
            <a:ext cx="54864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D62"/>
                </a:solidFill>
              </a:rPr>
              <a:t>⚠️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뉴스·금리·시장 심리 등 외부 요인 미반영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기술 지표만으로 Baseline 대비 일관된 우위 어려움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Black Swan(급변) 대응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657600"/>
            <a:ext cx="548640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703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D62"/>
                </a:solidFill>
              </a:rPr>
              <a:t>🚀 개선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S&amp;P 500 · VIX · 금리 등 외부 데이터 추가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FinBERT 뉴스 감성 분석 피처 추가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TF + XGBoost 앙상블 모델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44"/>
                </a:solidFill>
              </a:rPr>
              <a:t>• Transformer 기반 시계열 모델 (PatchTST)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114800"/>
          </a:xfrm>
          <a:prstGeom prst="rect">
            <a:avLst/>
          </a:prstGeom>
          <a:solidFill>
            <a:srgbClr val="003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5E2"/>
                </a:solidFill>
              </a:rPr>
              <a:t>GE Stock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749039"/>
            <a:ext cx="8595360" cy="4572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CCFF"/>
                </a:solidFill>
              </a:rPr>
              <a:t>Mission 1. 데이터 수집 &amp; 전처리 (yfinance + 28개 피처)   ✓
Mission 2. TensorFlow Keras — Dense Regression + LSTM Regression   ✓
Mission 3. FastAPI + n8n + Discord 자동 리포트 서비스 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99"/>
                </a:solidFill>
              </a:rPr>
              <a:t>⚠️  본 결과는 교육용 ML 실습이며 투자 조언이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